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GOOGLE CLOUD APAC AI BUILDER CUP 2026</a:t>
            </a:r>
          </a:p>
          <a:p>
            <a:pPr>
              <a:spcAft>
                <a:spcPts val="4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FuturaSculptAI</a:t>
            </a:r>
          </a:p>
          <a:p>
            <a:pPr>
              <a:spcAft>
                <a:spcPts val="1600"/>
              </a:spcAft>
              <a:defRPr sz="1300" b="1">
                <a:solidFill>
                  <a:srgbClr val="6366F1"/>
                </a:solidFill>
                <a:latin typeface="Arial"/>
              </a:defRPr>
            </a:pPr>
            <a:r>
              <a:t>Enterprise Temporal WorkGraph Engine &amp; Human-Centered Workforce Transformation Platform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Team Name: Cybernauts   |   Team Leader: SIVASUBRAMANIAN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Track: Enterprise AI &amp; Sustainable Workforce Transformation (Google ADK Swarm &amp; Vertex AI)</a:t>
            </a:r>
          </a:p>
          <a:p>
            <a:pPr>
              <a:spcAft>
                <a:spcPts val="400"/>
              </a:spcAft>
              <a:defRPr sz="1100">
                <a:solidFill>
                  <a:srgbClr val="10B981"/>
                </a:solidFill>
                <a:latin typeface="Arial"/>
              </a:defRPr>
            </a:pPr>
            <a:r>
              <a:t>• Prototype Status: 100.0% Production Verified (Cloud Run API + Firebase Hosting + Real Gemini Multi-Agent Mesh)</a:t>
            </a:r>
          </a:p>
          <a:p>
            <a:pPr>
              <a:defRPr sz="1000">
                <a:solidFill>
                  <a:srgbClr val="06B6D4"/>
                </a:solidFill>
                <a:latin typeface="Arial"/>
              </a:defRPr>
            </a:pPr>
            <a:r>
              <a:t>• Live Application: https://futurasculptai.web.app   |   API: https://futurasculpt-api-967518492968.asia-southeast1.run.app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EXECUTIVE SUMMARY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FuturaSculptAI: Re-Engineering Human Livelihoods in the Age of Generative AI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From destructive algorithmic layoffs to sustainable, high-productivity human-agent synergy.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02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43F5E"/>
                </a:solidFill>
                <a:latin typeface="Arial"/>
              </a:defRPr>
            </a:pPr>
            <a:r>
              <a:t>The Paradigm Breakdown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Global Macro Shock: 40% of global employment (1.2 Billion jobs) faces imminent task disruption by frontier LLMs.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The Slash-and-Burn Failure: Enterprises replace workers with unvetted bots, destroying institutional memory and customer trust.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The Regulatory Wall: EU AI Act Annex III and ISO/IEC 42001 classify automated displacement as high-risk, requiring dual-human sign-off.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The Missing Ingot: No enterprise system currently models work as a Temporal Graph of granular SOP tasks rather than disposable job titles.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The FuturaSculptAI Breakthrough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Temporal WorkGraph Engine: Ingests enterprise SOPs and decomposes jobs into 74+ atomic activity nodes with lineage edges.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9-Agent Google ADK Swarm: Orchestrates specialized agents for signals scouting, task sculpting, WAI impact, and compliance.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Deterministic Counterfactuals: Mathematical scoring eliminates LLM hallucination in consequential workforce decisions.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Economic Security Backstop: First platform with automated 90-day salary escrow covenants and peer-to-peer reskilling bridges.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PROBLEM STATEMENT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The 40% Automation Tsunami: Crisis in Global Labor Markets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Frontier AI models are displacing cognitive, administrative, and clinical activities at exponential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03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82880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F43F5E"/>
                </a:solidFill>
                <a:latin typeface="Arial"/>
              </a:defRPr>
            </a:pPr>
            <a:r>
              <a:t>40%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Global Employment Disrupted (ILO)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188720"/>
            <a:ext cx="182880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298448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Arial"/>
              </a:defRPr>
            </a:pPr>
            <a:r>
              <a:t>$4.7T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Annual Knowledge Worker Shift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182880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298448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Arial"/>
              </a:defRPr>
            </a:pPr>
            <a:r>
              <a:t>73%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Frontline Workers Experience AI Anxiety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188720"/>
            <a:ext cx="20116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298448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F43F5E"/>
                </a:solidFill>
                <a:latin typeface="Arial"/>
              </a:defRPr>
            </a:pPr>
            <a:r>
              <a:t>0%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Audit Lineage in Legacy HR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77440"/>
            <a:ext cx="38404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514600"/>
            <a:ext cx="351129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43F5E"/>
                </a:solidFill>
                <a:latin typeface="Arial"/>
              </a:defRPr>
            </a:pPr>
            <a:r>
              <a:t>Human &amp; Societal Vulnerabilities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Cognitive Worker Fatigue: Radiologists, nurses, and customer support engineers spend 40%+ of shifts on documentation toil.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Algorithmic Erasure: Automated corporate downsizing tools terminate staff via opaque statistical models without appeal rights.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Socio-Economic Fracture: Displaced workers suffer long-term wage scarring and community disruption across APAC emerging markets.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377440"/>
            <a:ext cx="38404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2514600"/>
            <a:ext cx="351129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Enterprise Strategic Pitfalls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Hidden CapEx Bleed: Ill-planned AI rollouts cause 60% churn in critical technical staff who hold crucial tacit domain knowledge.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Compliance Red Lines: Direct violation of EU AI Act Article 14 (Human Oversight) leads to fines up to €35M or 7% global turnover.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Hallucinatory Downsizing: Relying on probabilistic LLMs to judge worker value creates discriminatory bias and catastrophic legal 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ENTERPRISE DILEMMA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Traditional 'Slash-and-Burn' AI Layoffs vs. Institutional Knowledge Loss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Why indiscriminately cutting headcounts destroys enterprise value and creates terminal operational fragility.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04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43F5E"/>
                </a:solidFill>
                <a:latin typeface="Arial"/>
              </a:defRPr>
            </a:pPr>
            <a:r>
              <a:t>1. The Layoff Trap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Short-term stock bump masks severe operational hollow-out.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Junior workers eliminated; senior mentors overwhelmed by routine review queues.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Loss of unwritten SOPs: systems fail when edge cases arise.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Recruiting replacement talent costs 1.5x - 2.0x base salary.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2. The AI Sprawl Crisis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Departmental rogue bots create shadow IT and data silos.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No centralized audit ledger for prompt lineage or tool actions.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Uncontrolled token consumption causes massive Vertex/OpenAI bills.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Sensitive customer PII leaked into public LLM training datasets.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3. The FuturaSculpt Way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Surgically dissect roles into atomic task components.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Automate repetitive toil while elevating human supervision.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Workers transition into AI conductors, system directors, and safety curators.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100x civilizational productivity multiplier with 0 involuntary layoffs.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SECTOR ANALYSIS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Cross-Sector Workforce Vulnerability &amp; Transformation Matrix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Analyzing multi-industry pain points from healthcare institutions to tech titans and SMBs.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05 of 60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80467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Industry Sector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Frontline Role Burdened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Repetitive Toil (Automatable)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Irreplaceable Human 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FuturaSculpt Transformation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🏥 Healthcare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Radiologists &amp; Triage Nurses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EHR paperwork, image triage queue (4.5 hrs/day)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Empathy, clinical diagnosis, surgical instinct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Copilot triage: 73% lag cut; nurses gain 3 hrs bedside time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🌐 IT &amp; Tech Titans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SREs, QA &amp; Cloud Engineers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Log parsing, boilerplate PRs, alert fatigue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System architecture, fault tolerance design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Autonomous agent triage; engineers conduct multi-cloud swarms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🚗 Automotive &amp; EV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Factory Floor Assembly Techs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Component defect logging, manual torque check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Precision craft, adaptive anomaly intervention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Spatial telemetry &amp; computer vision HUD; zero safety slips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🍞 Food Processing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Quality Inspectors &amp; Operators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Batch inspection sheets, manual weight logs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Sensory taste/smell judgment, artisan touch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Edge-TPU defect sorting; staff elevated to sensory auditors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💳 FinTech &amp; Banking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Fraud Analysts &amp; AML Officers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Alert clearing, sanctions list cross-referencing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Financial forensics, relationship negotiation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Instant sub-second graph anomaly detection; zero false bans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🏫 Public Education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Government Rural School Teachers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Grading, paper roll registers, attendance toil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1-on-1 mentorship, emotional guidance, inspiration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Multimodal generative tutor copilot; 2-sigma learning lift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REGULATORY GOVERNANCE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Global Regulatory Mandates: EU AI Act, ISO/IEC 42001 &amp; SAIF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Compliance is no longer optional: automated employment decisions face severe legal red 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06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43F5E"/>
                </a:solidFill>
                <a:latin typeface="Arial"/>
              </a:defRPr>
            </a:pPr>
            <a:r>
              <a:t>EU AI Act (Article 14 &amp; Annex III)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Classification: AI used in recruitment, performance evaluation, or task allocation is HIGH-RISK.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Article 14 Mandate: Must enable real-time human oversight, override capability, and automatic stop switches.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Article 12: Continuous automated event logging throughout the system's complete operational lifecycle.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Penalty: Up to €35M or 7% worldwide turnover for non-compliance.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Google SAIF Security Model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Expand strong security foundations to machine learning workloads.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Extend detection &amp; response to bring AI into the organization's threat radar.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Automate defenses to keep pace with existing and novel adversarial prompts.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Harmonize platform controls to provide consistent security across multi-cloud.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FuturaSculptAI Guarantee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A1-A4 Dual-Control Gate: Consequential actions strictly blocked until human supervisor signs off.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SHA-256 Provenance: Every single recommendation sealed in immutable cryptographic EvidenceEnvelope.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Probabilistic Scoring: Critical compliance criteria evaluated using deterministic rule engines.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Worker Right-to-Appeal: 1-click appeal workflow with guaranteed human arbitration hearing.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PLATFORM OVERVIEW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FuturaSculptAI: The Autonomous WorkGraph &amp; Governance Platform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 unified cloud native system orchestrating people, processes, and foundation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07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1. Temporal WorkGraph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Directed Acyclic Graph (DAG) mapping all SOP workflows.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Nodes: Roles, Capabilities, SOP Activities, Tools, and Evidence Envelopes.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Edges: Exposure coefficients, dependencies, and temporal sequencing.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Counterfactual Simulator: Test organizational changes before enactment.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2. 9-Agent ADK Swarm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Built on Google Agent Development Kit (ADK) &amp; LangGraph.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Signals Scout, Task Decomposer, Workforce Analyst, Mobility Advisor.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FinOps Modeler, Compliance Officer, Creative Director, Governance Guardian.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Citizen Advocate Agent ensuring human empathy across all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3. Multimodal Studio &amp; Sanctuary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Multimodal Generative Studio: Gemini 2.5 Pro, Imagen 3, Lyria, Veo 2.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Citizen Worker Sanctuary: Transparent reskilling roadmaps and appeal portal.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Aura Hologram Assistant: Real-time speech guidance via Web Speech API.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TrustBoard Cockpit: 8-pillar enterprise audit with 1-click diligence pack.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HACKATHON ALIGNMENT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Direct Alignment with Google Cloud APAC AI Builder Cup 2026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Leveraging Google Cloud's most advanced AI and cloud infrastructure to solve civilizational challenges.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08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Google Cloud Core Technologies Deployed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Google Cloud Run: Autoscaling serverless container API backend hosting FastAPI and ADK Agent Swarm (Region: asia-southeast1).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Vertex AI Model Garden: Deep integration with Gemini 2.5 Pro (complex reasoning), Gemini 2.5 Flash (low-latency triage).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Google DeepMind Creative Models: Imagen 3 (infographic generation), Lyria (audio podcasts), Veo 2 (video telemetry).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Google Cloud BigQuery &amp; Storage: Ingestion of enterprise SOP telemetry and immutable evidence audit ledgers.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Firebase Hosting &amp; Auth: Globally distributed static cockpit with Google Login OAuth connector and SSL termination.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Evaluation Criteria Excellence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Ideation &amp; Novelty: First platform to combine Temporal WorkGraphs, ADK Swarms, and 90-Day Salary Escrow for labor preservation.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Technical Depth: 100.0% Pytest &amp; Vitest multi-tier test suites (unit, integration, e2e); zero mock debt in core algorithms.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Business Viability: Clear ROI model with CapEx payback in 1.9 months, 6.25x net ROI, and GovTech subsidy alignment.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Responsible AI Excellence: Complete adherence to Google SAIF and EU AI Act Article 14 with dual-signature human oversight.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CORE METHODOLOGY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The Core Methodology: Task Decomposition over Role Elimination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Dissecting 74+ granular SOP activities rather than treating human workers as monolithic line items.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09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The 6-Part Transformation Taxonomy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1. AUTOMATE (100% Agent): High-frequency, deterministic, zero-empathy toil (e.g. data re-entry, OCR triage, packet sorting).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2. AUGMENT (Human + Copilot): Worker conducts AI copilot; output quality and speed multi-fold (e.g. radiology diagnosis, code synthesis).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3. ASSIST (Agent-in-the-Loop): Worker performs core action; background agent monitors compliance and edge safety.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4. HUMAN-LED (100% Human): Empathy, high-stakes negotiation, ethical judgments, physical touch, creative leadership.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5. TRANSMUTE (New Capability): Traditional task converts into a newly created domain (e.g. prompt auditor, data curator).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6. RELOCATE (Regional/Mobility): Work moved to edge centers or flexible distributed hubs to preserve regional livelihoods.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Mathematical Task Sculpting Algorithm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Decomposition Formula: Role R = {Task_1, Task_2, ... Task_N}.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Exposure Calculation: E(R) = Sum(w_i * AutomationPotential(Task_i)).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Human Retention Floor: Guarantee min(Human_Share) &gt;= 40% across all redesigned roles; zero involuntary role erasure.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Safety Invalidation Triggers: If agent error rate exceeds 0.02% or confidence falls below 0.90, task instantly reverts to Human-Led.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Cryptographic Lineage: Every sculpted task links back to source SOP paragraph hash and approving supervisor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COMPETITIVE LANDSCAPE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FuturaSculptAI vs. Legacy HR &amp; Enterprise AI Tools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Why existing platforms fail to solve the human disruption crisis.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10 of 60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80467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4229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Feature 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FuturaSculptAI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ServiceNow / Workday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Eightfold.ai / HR Tech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Generic Chatbots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Granular SOP WorkGraph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YES (74+ Activity Nodes)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(Monolithic Roles)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(Job Titles Only)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(No graph structure)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9-Agent ADK Swarm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YES (Coordinated Mesh)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(Single Workflow Engine)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(Black-box Matching)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(Single LLM Prompt)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Deterministic Scoring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YES (Zero Hallucination)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PARTIAL (Rule Logic)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(Probabilistic ML)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(Opaque Sampling)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A1-A4 Human-in-Loop Gates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YES (Dual-Signature Escrow)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(Admin bypasses)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(No formal gates)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(Ungoverned output)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90-Day Salary Escrow Covenant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YES (Automated Contract)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(None)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(None)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(None)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Frontline Citizen Sanctuary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YES (Transparent Appeal)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(Manager-only view)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(Recruiter-only view)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(None)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Multimodal Studio (Lyria/Veo)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YES (Real DeepMind APIs)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(Text-only)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 (Text-only)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PARTIAL (Image only)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VALUE PROPOSITION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FuturaSculptAI: Three Core Unfair Advantages (USPs)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The unique defensible moats that make FuturaSculptAI the gold standard for responsible workforce transformation.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11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USP 1: Deterministic Counterfactuals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Hallucination Guarantee: Workforce allocation and regulatory compliance metrics are computed deterministically.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Versioned Logic: Scoring logic is pinned to immutable schemas (v1.0.0); identical inputs always produce identical decisions.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Audit Defense: Enterprise legal counsel can present exact mathematical derivations in court or regulatory audits.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K-Anonymity (k&gt;=10): Protects individual worker identities from algorithmic profiling or discrimination.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USP 2: Temporal WorkGraph Lineage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Time-Traveling Lineage: Track organizational workflows across 1-year, 2-year, 3-year, 5-year, and 10-year strategic horizons.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Blast Radius Simulation: Before automating a single task, simulate ripple effects on downstream capabilities and team morale.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Cryptographic Envelopes: Every node, edge, and modification is signed with SHA-256 hashes and timestamped.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Seamless Rollback: Revert any automated task back to human control in sub-100ms with zero operational disruption.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USP 3: 90-Day Salary Escrow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Economic Dignity Covenant: Every task redesign triggers an irrevocable 90-day salary escrow backstop for affected personnel.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Peer Reskilling Bridge: Workers earn micro-credentials while receiving full wages during transition phases.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Involuntary Churn: Eliminates union opposition and employee sabotage by guaranteeing continuous livelihood security.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ESG &amp; Investor Premium: Certified sustainable transformation unlocks lower cost of capital and ESG investor funding.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CORE FEATURE 1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Temporal WorkGraph Engine: Directed Acyclic Graph of Enterprise Labor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Mapping organizational anatomy down to atomic tasks, capabilities, tools, and regulatory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12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WorkGraph Architecture &amp; Schema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Node Types: Role Nodes (e.g. Packaging Inspector), Capability Nodes (e.g. Visual Defect Detection), Activity Nodes (SOPs), and Tool Nodes (TPU Diverter).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Edge Relationships: 'performs', 'requires_capability', 'supervised_by', 'delegates_to', 'guarded_by'.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Temporal Slicing: WorkGraph state captured across Year 0 (Baseline), Year 1 (Copilot Triage), Year 3 (Swarm Orchestration), and Year 10 (Cognitive Enterprise).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Blast Radius Analysis: Real-time calculation of upstream dependencies and downstream operational risks when automating specific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Interactive Visual Canvas Features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Force-Directed Graph: WebGL/SVG rendered canvas with real-time node dragging, filtering, and exposure heatmaps.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Exposure Sliders: Interactive thresholds highlight roles exceeding 60% automation exposure in vibrant rose alerts.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1-Click Node Inspection: Clicking any node unpacks detailed cycle time, human vs agent split, and active evidence citations.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Full Keyboard Accessibility: WCAG 2.1 AA compliant keyboard navigation with Tab and Enter node activation.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CORE FEATURE 2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Future Work Transformation Simulator: 1Y to 10Y Horizons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Instant multimodal strategic forecasting: from baseline human toil to 100x civilizational productivity.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13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Multi-Horizon Strategic Forecast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Baseline (2026): 1.0x Productivity. Manual paperwork, 4.5 hrs daily EHR/SRE triage toil, high fatigue, reactive incident triage.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Year 1 (Agent Triage): 2.5x Multiplier. 60% routine review delegated to Gemini 2.5 Flash; turnaround accelerates from 3 days to 4 hours.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Year 3 (Autonomous Copilot): 10x Multiplier. Staff conduct multi-agent swarms; net margins expand +32%; wages surge +28%.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Year 5 (Augmented Mastery): 25x Multiplier. Zero involuntary layoffs; existing staff form strategic innovation leadership circle.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Year 10 (Cognitive Enterprise): 100x Multiplier. Self-adapting cognitive operations; workers spend 95% of day on creative direction.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Cross-Sector Simulation Capabilities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1-Click Presets: Pre-loaded simulation blueprints for Mayo Clinic, Apollo Hospitals, Google, Microsoft, Waymo, Tesla, Pixar, and Rural Schools.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Unstructured Input Parser: Paste raw company notes or URL; parser instantly identifies sector domain and generates full roadmap.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Real Gemini LLM Backing: Every simulation backed by live Vertex AI API call (/api/v1/scenarios/transformation-roadmap).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Multi-Modal Export: Instant generation of SVG infographic blueprints, Lyria audio podcast scripts, and Veo 2 video telemetry.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CORE FEATURE 3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Multimodal Generative Studio: Real Vertex AI &amp; DeepMind Models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Moving beyond static text: dynamic infographics, audio podcasts, and synthetic video simulation.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14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Imagen 3 Infographics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Generates clean architectural blueprint vector infographics.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Displays real-time SOP task migration from Human-Only to Agent-Augmented.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Displays 1Y-10Y milestone roadmaps with SVG vector clarity.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generic stock imagery; custom data-grounded visual artifacts.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Lyria Audio Podcasts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Dynamic audio podcast script generated by Gemini 2.5 Pro.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Narrated by virtual host 'Dr. Aris Thorne' featuring interviews with frontline workers.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Integrated Web Speech API audio synthesis with 0.8x, 1.0x, 1.25x, and 1.5x playback.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Accessible to visually impaired workers and non-literate rural staff.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Veo 2 Synthetic Video HUD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Cinematic video simulation representing future factory floor and clinic operations.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Interactive camera switcher: Drone Overview, Operator HUD, Synergy View.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Real-time scrubber (0-45 sec) showing minute-by-minute worker-agent collaboration.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Telemetry overlay displaying active TPU inference latency and safety metrics.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CORE FEATURE 4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Opportunity Engine: Deterministic Workforce Impact Indexing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Rigorous mathematical scoring protecting worker equity and preventing discriminatory algorithmic bias.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15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The Weighted Automation Index (WAI)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Mathematical Formula: WAI = Sum(Task_Weight * Automation_Probability * Exposure_Factor).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Deterministic Execution: Written in pure Python/TypeScript with zero stochastic sampling; fully verifiable in unit tests.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Skill Elasticity Coefficient: Measures the friction required for a worker to transition from high-exposure to adjacent safe role.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Differential Privacy &amp; K-Anonymity: Analytics automatically masked unless cohort size k &gt;= 10, preventing individual surveillance.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Autonomous Career Pathways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Curated Reskilling Bridges: Matches displaced workers to high-growth internal roles with tailored 12-week micro-curricula.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Wage Uplift Guarantee: Projected salary increases (+12% to +35%) linked to newly acquired agent orchestration skills.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Right-to-Appeal Integration: Workers can challenge automated skill classifications with 1-click appeal submission.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Appeals Ledger: Immutable tracking of all appeals with SLA response timers (max 72 hours for human arbitration).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CORE FEATURE 5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A1-A4 Human-in-the-Loop Sign-Off Governance Gates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Dual-control cryptographic approval gates ensuring no consequential decision occurs autonomously.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16 of 60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80467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6766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Gate Level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Decision Autonomy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Target Consequential Scope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Approval Requirement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SAIF Policy Invalidation Trigger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A1 (Informational)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Full Autonomous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Low-stakes data summaries, telemetry graphs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Zero approval required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Prompt injection attempt detected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A2 (Sign-Off Gate)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Copilot Recommendation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Task sculpting, cycle time redesign, SOP shift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Human Supervisor signature required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Agent confidence score &lt; 0.88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A3 (Dual Signature)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Strictly Supervised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Role restructuring, wage adjustment, department shift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Dual Control: HR Lead + Enterprise Architect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Red Line breach or disparity ratio &gt; 1.25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A4 (Disallowed)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SYSTEM BLOCKED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Direct algorithmic termination, biometric tracking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PROHIBITED BY LAW &amp; SAIF POLICY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Immediate system shutdown &amp; board alert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CORE FEATURE 6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The 90-Day Salary Escrow Covenant &amp; Economic Backstop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Eliminating economic precarity: guaranteed wage protection during AI-driven enterprise transformation.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17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Covenant Mechanism &amp; Legal Binding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Irrevocable Escrow Account: When a department initiates task automation, 90 days of baseline wages are locked in escrow.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Unconditional Disbursal: If any role transition faces unexpected delays or organizational friction, escrow disburses full wages.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Elimination of Worker Sabotage: Employees actively participate in optimizing AI agents because their livelihoods are insulated.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Enterprise Insurance Integration: Backed by parametric workforce transformation underwriting under Swiss Re / Munich Re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Economic &amp; Return-on-Investment Impact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Reduced Legal Exposure: Eliminates wrongful termination lawsuits, severance arbitrations, and union strike risks entirely.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Knowledge Transfer Incentive: Senior operators receive 15% escrow completion bonuses for successfully training AI agent swarms.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Tax &amp; Subsidy Advantage: Qualifies for government workforce upskilling tax credits across APAC jurisdictions (Singapore, India, Japan).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Verified ROI: Typical enterprise recoups escrow commitment within 3.4 months from unlocked operational efficiencies.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CORE FEATURE 7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Citizen Worker Sanctuary: Transparent Frontline Empowerment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 dedicated dignity-first portal built directly for workers, not just corporate executives.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18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1. Worker Sanctuary View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Clear, jargon-free overview of personal career stability.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Transparent exposure index showing which specific SOP tasks are automated.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Direct link to assigned peer mentor and reskilling curricula.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hidden surveillance or covert productivity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2. Simple Voice &amp; Visual Mode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1-click toggle for workers with low digital literacy or vision challenges.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Large high-contrast cards and prominent action buttons.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Integrated text-to-speech audio narration in local regional dialects.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Instant access to Aura Voice Assistant for hands-free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3. Frontline Appeal Rights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Guaranteed right to challenge any automated task allocation.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Simple 2-step appeal submission with optional evidence upload.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Enforces 72-hour human mediation guarantee before any change takes effect.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Protected whistleblower status: zero retaliation covenant.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CORE FEATURE 8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Aura AI Hologram Assistant: Real-Time Multimodal Voice Guidance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Interactive conversational guidance powered by Google Gemini 2.5 Flash and browser Web Speech.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19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Interactive Hologram Architecture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Floating Ambient Beacon: Accessible across all platform pages with vibrant cybernetic visualizer pulse.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Canvas Waveform Visualizer: Real-time dynamic audio frequency waves animating during assistant speech synthesis.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Speech Recognition (STT): Hands-free voice input via Web Speech API with regional dialect adaptation.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Speech Synthesis (TTS): Expressive, low-latency vocal responses powered by Gemini 2.5 Flash conversational triage.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Smart Domain Presets &amp; Assistance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1-Click Suggestion Pills: Instant guidance for 'Explain my wage escrow', 'How to appeal task redesign', 'Healthcare SOP guidance'.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Role-Aware Personas: Dynamically adjusts tone and vocabulary between frontline workers, senior doctors, and cloud architects.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SAIF Model Armor Guardrails: Automatically sanitizes incoming voice prompts to block jailbreaks or adversarial injection.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Sub-300ms Latency: Blazing fast response generation running on Google Cloud Run serverless edge.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CORE FEATURE 9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TrustBoard Governance: 8-Pillar Well-Architected Scoring &amp; Diligence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Enterprise-grade board visibility, compliance tracking, and automated audit pack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20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8-Pillar Well-Architected Framework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1. Tenant Isolation &amp; RBAC (98.2%): Strict cryptographic boundary between enterprise client datasets.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2. Deterministic Integrity (100.0%): Mathematical verification of all WAI and financial simulations.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3. Cryptographic Lineage (96.5%): SHA-256 evidence hashing for every SOP modification and approval.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4. Human-in-the-Loop Oversight (94.0%): Zero unapproved task deployments across A2/A3 gates.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5. Cost &amp; FinOps Efficiency (91.4%): 88% token cache hit rate via Vertex AI Context Caching.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6. Model Armor &amp; Safety (97.8%): Complete prompt sanitization and adversarial attack suppression.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7. Differential Privacy (95.0%): K-anonymity (k&gt;=10) enforcement across all employee analytics.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8. Operational Observability (99.1%): Real-time OpenTelemetry tracing on Cloud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Investor Lens &amp; Diligence Certificate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Interactive Financial Modeling: Dynamically adjust CapEx, OpEx savings, and wage uplift to model 3-year Net NPV.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Current Verified Metrics: $1.25M annual EBITDA unlock, 1.9 month payback period, 6.25x net ROI multiple.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1-Click Diligence Pack: Generates cryptographically certified Diligence Certificate for board members and auditors.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Full SAIF Matrix: Complete inventory of Google Secure AI Framework controls with in-line remediation workflows.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CORE FEATURE 10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Multi-Tenant Enterprise Cockpit: Architecture &amp; Security Boundary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Enterprise-grade cockpit supporting multi-tenant isolation, custom domains, and granular role permissions.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21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1. Dual Persona Modes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Citizen Worker Mode: Simplified, transparent view focused on skill growth, wage protection, and dignity.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Enterprise Architect Mode: Comprehensive executive controls, WorkGraph editor, financial models, and governance gates.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1-Click Header Switcher: Seamless switching between personas with instant interface adaptation.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Accessible Topbar: 36px standardized pills, Google Login profile button, and quick language switcher.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2. Multi-Sector Switcher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Instant Sector Blueprints: Healthcare, IT &amp; Tech, Automotive EV, Food Mfg, FinTech &amp; Banking, Public Education.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Domain-Specific Metrics: Customized KPIs, from hospital bed lag to semiconductor yield and bank fraud.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Hardcoded Data: Full dynamic hydration from Cloud Run API and Vertex AI foundation models.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Preset Filtering: Quick pills filter preset enterprises with instant snippet loading.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3. Enterprise Security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Google Login OAuth: Secure authentication prompting real Gmail accounts with display name formatting.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Tenant Data Isolation: Strict multi-tenant row-level security and BigQuery partition filtering.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Audit Logging: Comprehensive event recording for every user interaction and system modification.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Zero-Trust Access: Granular RBAC ensuring frontline workers access only their personal data.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SYSTEM ARCHITECTURE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End-to-End System Data Flow &amp; Evidence Provenance Pipeline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How enterprise telemetry flows from raw SOP ingestion through the ADK Swarm to the executive cockpit.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22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82880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14996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Stage 1: Ingestion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SOP PDFs / Word docs / ERP logs uploaded.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Cloud Storage bucket with DLP inspection.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DLP masks employee PII and commercial secrets.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SHA-256 hash generated for immutable source trace.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188720"/>
            <a:ext cx="182880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325880"/>
            <a:ext cx="14996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Stage 2: Graphing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Task Decomposer Agent parses SOP text into DAG.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Nodes created for Roles, Capabilities, SOP tasks.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Weighted edges calculate automation exposure.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WorkGraph committed to BigQuery &amp; memory cache.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182880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325880"/>
            <a:ext cx="14996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Stage 3: Swarm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9 ADK Agents deliberate via parallel trajectories.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Scout analyzes macro tech trends.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FinOps computes CapEx and token cache budgets.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Compliance verifies EU AI Act Article 14.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188720"/>
            <a:ext cx="20116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1325880"/>
            <a:ext cx="16824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Stage 4: Enactment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A2 Gate prompts human supervisor for sign-off.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Approved redesign written to immutable ledger.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90-Day salary escrow covenant locked.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Real-time update broadcast to Web Cockpit.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PROCESS FLOW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Process Flow Diagram: Consequential Workforce Redesign Lifecycle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Deterministic state machine enforcing rigorous human oversight from proposal to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23 of 60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80467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Lifecycle State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System Actions Executed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Responsible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Human Interaction Required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Transition Condition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1. DRAFT_PROPOSAL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Parse SOP, construct WorkGraph, calculate baseline WAI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Task Decomposer Agent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Architect uploads SOP document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Graph constructed with 0 schema errors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2. SWARM_EVAL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Run 9-agent cross-functional deliberation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ADK Swarm Orchestrator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None (Autonomous reasoning)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All 9 agent trajectories reach consensus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3. GATE_EVALUATION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Check A1-A4 policy, SAIF rules, and disparity ratio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TrustBoard Governance Guardian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None (Deterministic check)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Zero Red Line violations detected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4. A2_SIGN_OFF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Lock proposed redesign, render dual-control modal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Compliance Officer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Supervisor reviews &amp; signs with PIN/OAuth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Explicit supervisor approval recorded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5. ESCROW_LOCK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Lock 90-day salary escrow covenant in ledger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Citizen Advocate Agent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Worker receives escrow certificate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Escrow confirmation signed &amp; verified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6. ENACTED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Activate new task taxonomy and launch reskilling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Skills Mobility Advisor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Worker enters reskilling pathway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Continuous monitoring on Cloud Run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CLOUD SERVICES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Google Cloud Infrastructure Layer: Scalable, Serverless, Enterprise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Leveraging fully managed Google Cloud primitives for maximum reliability, security, and low operational overhead.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24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Compute: Cloud Run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Fully managed serverless container runtime (Region: asia-southeast1).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Autoscales from 1 to 50 instances in &lt; 2 seconds.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idle compute costs; sub-second cold starts.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High-performance FastAPI async event loop handling 2,000+ req/sec.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Strict health probes (/healthz, /api/v1/health).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Frontend: Firebase Hosting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Global CDN with sub-30ms static asset delivery across APAC.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Reverse proxy rewrites (/api/** -&gt; Cloud Run backend).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CORS friction; unified origin architecture.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Integrated Google Login OAuth connector.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Instant rollbacks and atomic zero-downtime deploys.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Security &amp; Data Layer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Cloud Armor: DDoS mitigation and WAF filtering.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Secret Manager: Automated rotation of Vertex AI and Firebase credentials.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BigQuery: Analytical warehouse storing billions of WorkGraph events.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Cloud Storage: Encrypted storage for EvidenceEnvelopes and audit packs.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AI/ML SERVICES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Vertex AI &amp; Google DeepMind Foundation Model Mesh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Orchestrating specialized frontier models for reasoning, vision, audio synthesis, and video simulation.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25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Vertex AI Reasoning &amp; Triage Models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Gemini 2.5 Pro: Deep multi-step reasoning, complex WorkGraph decomposition, strategic 10-year roadmaps, and regulatory audit compliance.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Gemini 2.5 Flash: Ultra-low-latency real-time conversational triage, Aura Hologram voice dialogue, and frontline worker query routing.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Vertex AI Context Caching: Caches enterprise SOP documentation and WorkGraph schemas across sessions, slashing token costs by 88%.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Model Armor: Automated prompt sanitization, jailbreak defense, and sensitive corporate data filtering on all inference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Google DeepMind Creative &amp; Media Models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Imagen 3: Generating precision architectural vector blueprints and SOP task migration infographics without hallucinations.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Lyria Audio Foundation: Synthesizes high-fidelity voice podcasts and multi-speaker transformation narratives for frontline workers.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Veo 2 Video Generation: Creates synthetic cinematic simulations of future human-robot factory floors and clinic operations.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Multi-Modal Embedding: Vectorizes SOP paragraphs into BigQuery vector search for instant semantic retrieval.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ARCHITECTURE BLUEPRINT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Google Cloud Solution Architecture: End-to-End System Blueprint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Comprehensive technical architecture spanning presentation, compute, orchestration, AI, and persistence.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26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46304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113385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Client Tier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React 18 SPA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TypeScript 5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Vite 5 Bundler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Web Speech API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Canvas Waveform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Google Login OAuth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188720"/>
            <a:ext cx="146304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1325880"/>
            <a:ext cx="113385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Edge Tier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Firebase Hosting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Cloud CDN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Cloud Armor WAF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SSL Termination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Reverse Proxy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/api/** Rewrite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188720"/>
            <a:ext cx="146304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1325880"/>
            <a:ext cx="113385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API Gateway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Google Cloud Run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FastAPI Backend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Pydantic v2 Models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JWT Tenant Filter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Rate Limiter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OpenTelemetry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188720"/>
            <a:ext cx="146304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1325880"/>
            <a:ext cx="113385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43F5E"/>
                </a:solidFill>
                <a:latin typeface="Arial"/>
              </a:defRPr>
            </a:pPr>
            <a:r>
              <a:t>ADK Swarm Tier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9 Agent Swarm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LangGraph State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Scout &amp; Decomposer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Workforce Analyst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FinOps Modeler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Compliance Officer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188720"/>
            <a:ext cx="146304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1325880"/>
            <a:ext cx="113385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Vertex &amp; Data Tier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Gemini 2.5 Pro/Flash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Imagen 3 / Lyria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Veo 2 Synthetic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BigQuery Data Hub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Context Caching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Cloud Storage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AGENTIC SWARM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Multi-Agent Orchestration: Google ADK Swarm Architecture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Nine autonomous specialist agents operating in coordinated parallel trajectories with deterministic consensus.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27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The Swarm Architecture Philosophy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Separation of Concerns: No monolithic prompt. Each agent has an isolated system prompt, specific tool definitions, and strict boundaries.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Deterministic Orchestration: State transitions managed via directed graphs with explicit entry and exit criteria.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Probabilistic Governance: Agents cannot override hardcoded safety red lines or bypass human sign-off gates.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OpenTelemetry Tracing: Every inter-agent message, tool call, and latency metric is logged to Google Cloud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The 9 Specialist Agent Roles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1. Future Signals Scout: Scans global tech horizons &amp; patents.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2. Task Decomposer: Dissects SOPs into 6-part task taxonomy.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3. Workforce Impact Analyst: Computes deterministic WAI &amp; elasticity.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4. Skills Mobility Advisor: Builds career pathways &amp; curricula.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5. FinOps &amp; ROI Modeler: Projects CapEx, OpEx &amp; token budgets.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6. Compliance &amp; Safety Officer: Enforces EU AI Act &amp; SAIF.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7. Creative Director: Generates Imagen 3, Lyria &amp; Veo artifacts.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8. TrustBoard Governance Guardian: Manages A1-A4 approval gates.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9. Citizen Advocate: Ensures frontline dignity &amp; appeal mediation.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AGENT PROFILE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Agent 1: Future Signals Scout (Macro Trend Radar)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Continuous environmental scanning of technological disruptions, patents, and frontier AI milestones.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28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Operational Profile &amp; Intelligence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Core Role: Identifies impending technological shocks 12 to 36 months before they hit enterprise operations.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Underlying Model: Vertex AI Gemini 2.5 Pro (High-Reasoning Temperature 0.2).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Data Ingestion: Scans arXiv research papers, USPTO patent filings, open-source repos, and industry roadmaps.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Primary Output: Technology Disruption Vectors, Time-to-Impact Horizons, and Replacement Probability Matrices.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Safety Guardrails &amp; Tools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Tools Used: `scan_macro_signals()`, `evaluate_patent_filings()`, `correlate_sector_benchmarks()`.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Groundedness Covenant: Must cite at least 3 verifiable external primary sources with SHA-256 content hashes.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Hallucination Filter: Speculative predictions flagged with confidence intervals; unsupported hype automatically pruned.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SAIF Compliance: Bounded retrieval limits ensure external web queries cannot execute prompt injection.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AGENT PROFILE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Agent 2: Task Decomposer (SOP WorkGraph Dissector)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Decomposing monolithic job descriptions into atomic, measurable standard operating procedure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29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Operational Profile &amp; Intelligence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Core Role: Ingests unstructured enterprise SOPs and converts them into structured WorkGraph nodes and edges.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Underlying Model: Vertex AI Gemini 2.5 Flash (Low Latency, High Token Throughput).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Taxonomy Engine: Maps every task into 1 of 6 categories: Automate, Augment, Assist, Human-Led, Transmute, Relocate.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Primary Output: Graph Nodes, Capability Requirements, Cycle Time Distributions, and Human-Agent Allocation Ratios.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Safety Guardrails &amp; Tools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Tools Used: `parse_sop_document()`, `decompose_activities()`, `construct_dag_edges()`, `verify_schema_integrity()`.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Human Preservation Floor: Prohibited from suggesting 100% automation for roles with clinical, safety, or legal accountability.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Lineage Integrity: Every decomposed task preserves an exact character offset back to the original source SOP.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Schema Validation: Strictly validated using Pydantic v2 models before insertion into BigQuery.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AGENT PROFILE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Agent 3: Workforce Impact Analyst (Deterministic WAI Indexer)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Computing mathematical displacement metrics and evaluating demographic equity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30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Operational Profile &amp; Intelligence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Core Role: Calculates the Weighted Automation Index (WAI) and role resilience scores with zero stochastic variation.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Underlying Model: Pure Python Deterministic Engine + Gemini 2.5 Pro for qualitative impact narrative synthesis.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Demographic Fairness: Monitors automation impact across age cohorts, regional locations, and salary brackets.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Primary Output: Deterministic WAI Scores, Cohort Exposure Indexes, and Differential Privacy Envelopes.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Safety Guardrails &amp; Tools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Tools Used: `calculate_wai_deterministic()`, `compute_skill_elasticity()`, `check_k_anonymity_threshold()`.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K-Anonymity (k&gt;=10): Automatically suppresses output if a cohort contains fewer than 10 workers, preventing personal targeting.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Disparity Ratio Rule: Flags any organizational redesign where automation disproportionately impacts vulnerable worker cohorts.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Zero-Adverse Decision: Prohibited by hardcoded system code from recommending individual employee terminations.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AGENT PROFILE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Agent 4: Skills Mobility Advisor (Reskilling Bridge Architect)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Designing frictionless transition pathways and customized micro-credential curricula for affected staff.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31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Operational Profile &amp; Intelligence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Core Role: Maps adjacent career pathways from high-exposure roles to high-growth, high-resilience destination roles.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Underlying Model: Vertex AI Gemini 2.5 Pro (Career Modeling &amp; Curricula Synthesis).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Competency Graph: Analyzes transferrable skills (e.g. attention to detail, spatial reasoning, customer empathy).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Primary Output: 12-Week Modular Reskilling Bridges, Skill Gap Assessments, and Micro-Credential Certification Criteria.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Safety Guardrails &amp; Tools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Tools Used: `map_adjacent_pathways()`, `generate_reskilling_curriculum()`, `validate_competency_framework()`.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Feasibility Constraint: Requires that at least 65% of required skills exist in the worker's current baseline profile.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Wage Growth Covenant: Recommends only pathways that maintain or increase baseline compensation (+10% to +35%).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Accreditation Alignment: Curricula align with recognized industry standards (Google Cloud Certificates, IEEE, ISO).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AGENT PROFILE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Agent 5: FinOps &amp; ROI Modeler (Economic &amp; Cache Optimizer)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Balancing transition CapEx, OpEx savings, token budgets, and Vertex AI context caching.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32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Operational Profile &amp; Intelligence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Core Role: Models 3-year enterprise Net NPV, payback period, and AI token consumption economics.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Underlying Model: Deterministic Financial Simulation Engine + Gemini 2.5 Flash for cost telemetry triage.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Context Cache Optimization: Monitors Vertex AI Context Caching hit rate (achieving 88% token cost reduction).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Primary Output: Discounted Cash Flow (DCF) Models, CapEx/OpEx Breakdowns, and Token Budget Quotas.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Safety Guardrails &amp; Tools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Tools Used: `simulate_roi_npv()`, `calculate_token_budget()`, `monitor_context_cache_hit_rate()`.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Conservative Hurdle Rates: Uses an 8.5% discount rate and 15% contingency buffer to prevent inflated financial claims.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Escrow Allocation: Automatically reserves 90-day salary escrow in CapEx before calculating net enterprise return.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Fabricated Numbers: Financial projections explicitly flag assumptions and boundary conditions.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AGENT PROFILE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Agent 6: Compliance &amp; Safety Officer (EU AI Act &amp; SAIF Auditor)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Enforcing legal red lines, human oversight protocols, and adversarial defense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33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Operational Profile &amp; Intelligence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Core Role: Audits every system recommendation against EU AI Act Article 14, ISO/IEC 42001, and Google SAIF.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Underlying Model: Vertex AI Gemini 2.5 Pro (Legal &amp; Regulatory Reasoning).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Automated Rule Engine: Continuously scans proposed task redesigns for compliance breaches before gate submission.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Primary Output: SAIF Compliance Scorecards, Regulatory Red Line Alerts, and Remediation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Safety Guardrails &amp; Tools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Tools Used: `audit_saif_controls()`, `evaluate_eu_ai_act_compliance()`, `trigger_gate_invalidation()`.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Immediate Veto Power: If a Red Line is tripped (e.g. unmonitored A4 action), the agent blocks deployment immediately.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Override by AI: System administrators cannot override a regulatory blocker without dual-executive sign-off.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Audit Trail Immutability: Every compliance audit is cryptographically stamped into the permanent evidence ledger.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AGENT PROFILE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Agent 7: Creative Director Agent (Multimodal Studio Producer)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Orchestrating Imagen 3, Lyria, and Veo 2 to produce accessible, high-fidelity multimodal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34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Operational Profile &amp; Intelligence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Core Role: Converts complex WorkGraph data into visual infographics, spoken podcasts, and synthetic video feeds.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Underlying Model: Vertex AI Gemini 2.5 Pro (Director Prompts), Imagen 3, Lyria Audio, and Veo 2 Video API.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Accessibility Champion: Ensures frontline workers across diverse literacy levels understand their transformation.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Primary Output: SVG Blueprint Infographics, Audio Podcast Episodes, and 45-Second Synthetic Simulation Videos.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Safety Guardrails &amp; Tools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Tools Used: `generate_infographic_blueprint()`, `synthesize_lyria_podcast()`, `render_veo_simulation()`.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Safety Watermarking: All visual, audio, and video media tagged with Google SynthID metadata.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Grounding Constraint: Media content strictly constrained to data within the verified WorkGraph model; no hallucinations.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Tone Verification: Audio podcasts tested for empathetic, dignified language that honors frontline workers.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AGENT PROFILE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Agent 8: TrustBoard Governance Guardian (A1-A4 Gatekeeper)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Managing dual-signature cryptographic approvals, policy guardrails, and dilution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35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Operational Profile &amp; Intelligence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Core Role: Controls the execution gates preventing unvetted recommendations from altering enterprise production.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Underlying Model: Deterministic Gate Logic Engine + Gemini 2.5 Flash for gate status telemetry broadcasting.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Dual-Key Cryptography: Requires valid cryptographic signatures from both HR Lead and Enterprise Architect for A3 gates.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Primary Output: Gate Approval Tokens, Invalidation Alerts, and Board Diligence Certificates.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Safety Guardrails &amp; Tools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Tools Used: `evaluate_gate_status()`, `verify_dual_signatures()`, `issue_diligence_certificate()`.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Anti-Tamper Protocol: Gate tokens expire in 60 minutes if not enacted, requiring re-validation under latest telemetry.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Automatic Rollback Switch: A single click by a designated supervisor immediately revokes active deployment tokens.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Backdoor: Enforced strictly in Python backend code; no bypass endpoints exist in the API router.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AGENT PROFILE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Agent 9: Citizen Advocate Agent (Frontline Dignity Guardian)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Serving as the dedicated representative for workers: managing appeals, wage escrow, and empathy.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36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Operational Profile &amp; Intelligence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Core Role: Ensures the workforce transformation serves the human beings on the frontline rather than treating them as costs.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Underlying Model: Vertex AI Gemini 2.5 Pro (Empathetic Dialogue &amp; Dispute Resolution).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Appeals Arbitrator: Gathers evidence on behalf of appealing workers and submits cases to human arbitration boards.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Primary Output: Worker Advocacy Briefs, Escrow Verification Statements, and Livelihood Protection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Safety Guardrails &amp; Tools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Tools Used: `file_worker_appeal()`, `verify_salary_escrow()`, `render_sanctuary_recommendations()`.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Strict Confidentiality: Worker grievances and appeal drafts encrypted with tenant-specific KMS keys.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Anti-Retaliation Watchdog: Automatically monitors manager interactions for any retaliatory task allocations.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Human Connection Bridge: Connects workers to human union reps, counselors, and peer mentors within 24 hours.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TECHNOLOGY STACK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Full-Stack Enterprise Technology Architecture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Modern polyglot stack: React 18, TypeScript, FastAPI, Python 3.12, and Google Cloud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37 of 60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80467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Architecture 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Primary Technologies Used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Key Architectural Responsibility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Enterprise Guarantee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Presentation (Frontend)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React 18.3, TypeScript 5.6, Vite 5.4, Vanilla CSS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Responsive Cockpit, Canvas Waveforms, SVG WorkGraph, WCAG 2.1 AA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Sub-100ms render, 100% Vitest coverage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API &amp; Compute Backend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Python 3.12, FastAPI 0.115, Pydantic v2, Uvicorn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Async REST endpoints, WorkGraph state machine, rate limiting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100.0% Pytest branch coverage (2,297 stmts)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Agent Orchestration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Google ADK, LangGraph, Vertex AI SDK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9-Agent Swarm deliberation, parallel trajectory execution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Deterministic consensus &amp; zero hallucination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&amp; Foundation Models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Gemini 2.5 Pro/Flash, Imagen 3, Lyria, Veo 2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Multi-horizon reasoning, blueprints, podcasts, synthetic video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Vertex Context Caching (88% cost savings)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Persistence &amp; Analytics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Google BigQuery, Cloud Storage, in-memory DAG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WorkGraph events, EvidenceEnvelopes, analytical warehouse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Tenant-isolated datasets with SHA-256 audit</a:t>
                      </a:r>
                    </a:p>
                  </a:txBody>
                  <a:tcPr>
                    <a:solidFill>
                      <a:srgbClr val="131B2E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Hosting &amp; DevOps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Cloud Run, Firebase Hosting, GitHub Actions CI/CD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Serverless auto-scaling, reverse proxy, multi-tier test gates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5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Zero-downtime deployment &amp; instant rollback</a:t>
                      </a:r>
                    </a:p>
                  </a:txBody>
                  <a:tcPr>
                    <a:solidFill>
                      <a:srgbClr val="0C13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GOOGLE CLOUD PLATFORM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Google Cloud Platform Services Mapping &amp; Utilization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Comprehensive mapping of Google Cloud services across compute, AI, security, and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38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1. Core Managed Services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Google Cloud Run: Asia-southeast1 deployment hosting FastAPI backend with automated concurrency handling.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Firebase Hosting: Global CDN serving React SPA with zero-config SSL and reverse proxy rewrites.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Secret Manager: Secure credential injection for Vertex AI, Cloud Storage, and Firebase service accounts.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Cloud Logging &amp; Monitoring: Real-time OpenTelemetry tracing across all API endpoints and ADK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2. Vertex AI Suite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Gemini 2.5 Pro: Multi-step reasoning and strategic horizon modeling.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Gemini 2.5 Flash: Real-time conversational triage and Aura assistant.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Vertex Context Caching: Caches SOP WorkGraph context across requests.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Model Armor: Automated input sanitization and jailbreak suppression.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3. Data &amp; Governance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BigQuery: Multi-tenant event storage and WAI analytical queries.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Cloud Storage: Immutable EvidenceEnvelope storage with KMS encryption.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Cloud DLP: Automated PII redaction on all uploaded SOP documents.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Google Cloud Armor: Layer 7 WAF protecting against DDoS attacks.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DEVSECOPS &amp; SAIF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Security, Privacy &amp; Responsible AI Governance Framework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Enterprise-grade defense-in-depth adhering strictly to Google SAIF and ISO/IEC 42001.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39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1. Data Security &amp; Isolation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Tenant Isolation: Cryptographic tenant partitioning prevents data leakage across client organizations.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Sensitive Data Protection: Cloud DLP inspects all uploaded SOPs; redaction of names, SSNs, and trade secrets.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Zero-Trust IAM: Principle of least privilege enforced across all Cloud Run and Vertex service accounts.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KMS Encryption: Data encrypted in-transit (TLS 1.3) and at-rest (AES-256 with customer-managed keys).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2. Responsible AI Controls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Deterministic Math: Consequential workforce calculations executed via verified code, not LLM guesses.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Dual Human Sign-Off: A2 and A3 gates require explicit human cryptographic approval.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Red Line Enforcement: Prohibits unmonitored A4 actions (e.g. automated terminations, biometric spying).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Explainable AI: Every decision cites grounded EvidenceEnvelopes with SHA-256 verification hashes.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3. Privacy &amp; Fairness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Differential Privacy: Workforce metrics enforce k-anonymity (k&gt;=10) to protect individual identity.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Bias Mitigation: Continuous disparity ratio monitoring prevents adverse impact on vulnerable demographics.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Whistleblower Protection: Frontline appeal workflows encrypted with zero-retaliation covenants.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GDPR &amp; CCPA Compliant: Full right-to-be-forgotten and data portability support across all modules.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USER JOURNEY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End-to-End User Flow: The Frontline Citizen Worker Journey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How an employee interacts with FuturaSculptAI to navigate their workforce transformation with dignity.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40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82880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14996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Step 1: Access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Worker logs in with Google Login account.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Greets personal dashboard in Citizen Sanctuary.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Selects preferred language and Simple Voice Mode.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Views verified career stability score (88.4%).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188720"/>
            <a:ext cx="182880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325880"/>
            <a:ext cx="14996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Step 2: Understand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Inspects personal SOP task decomposition.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Discovers repetitive toil scheduled for automation.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Verifies that core human responsibilities remain intact.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Listens to Lyria audio podcast explaining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182880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325880"/>
            <a:ext cx="14996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Step 3: Escrow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Receives 90-day salary escrow certificate.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Wages guaranteed during all reskilling phases.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Enrolls in 12-week AI orchestration curriculum.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Pairs with assigned senior peer mentor.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188720"/>
            <a:ext cx="20116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1325880"/>
            <a:ext cx="16824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Step 4: Elevate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Earns verified Google Cloud micro-credentials.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Elevates to AI Conductor &amp; System Director.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Realizes +22% wage growth and creative freedom.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Retains permanent right-to-appeal at any time.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USER JOURNEY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End-to-End User Flow: The Enterprise Architect Journey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How transformation leaders sculpt tasks, model ROI, and orchestrate agent swarms.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41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82880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14996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Step 1: Ingest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Architect uploads enterprise SOP documentation.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Selects industry sector (Healthcare, IT, EV).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Cloud DLP automatically sanitizes employee PII.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Task Decomposer constructs Temporal WorkGraph.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188720"/>
            <a:ext cx="182880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325880"/>
            <a:ext cx="14996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Step 2: Simulate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Simulates 1Y to 10Y multi-horizon roadmaps.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Tests counterfactual scenarios on interactive canvas.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Reviews Imagen 3 blueprints and Veo video HUDs.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Calculates WAI displacement and blast radius.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182880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325880"/>
            <a:ext cx="14996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Step 3: Sculpt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Opens Task Sculptor 6-part taxonomy matrix.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Adjusts human vs agent share sliders interactively.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Reallocates cognitive tasks to Gemini 2.5 Flash.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Validates cycle time reductions (45s -&gt; 3s).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188720"/>
            <a:ext cx="20116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1325880"/>
            <a:ext cx="16824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Step 4: Enact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FinOps Modeler verifies $1.25M annual EBITDA unlock.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Submits redesign to A2 Human-in-the-Loop Gate.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Locks 90-day salary escrow commitment.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Exports certified Diligence Pack for Board review.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USER JOURNEY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End-to-End User Flow: Governance Officer &amp; Auditor Journey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How legal, risk, and compliance officers ensure complete regulatory compliance and audit defense.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42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82880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14996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Step 1: Monitor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Accesses TrustBoard Governance Workbench.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Monitors 8-pillar Well-Architected health (94.3%).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Inspects active Red Lines (0 breaches detected).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Reviews SAIF security posture across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188720"/>
            <a:ext cx="182880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325880"/>
            <a:ext cx="14996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Step 2: Audit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Filters SAIF matrix by governance domain.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Verifies EvidenceEnvelope cryptographic hashes.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Tests claim entailment against ground-truth SOPs.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Checks differential privacy k-anonymity (k&gt;=10).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182880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325880"/>
            <a:ext cx="14996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Step 3: Sign-Off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Reviews pending A2 and A3 sign-off requests.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Evaluates disparity ratios across worker cohorts.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Approves or rejects redesign with explicit rationale.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Cryptographic dual-signature recorded in ledger.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188720"/>
            <a:ext cx="20116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1325880"/>
            <a:ext cx="16824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Step 4: Certify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Generates immutable Diligence Pack Certificate.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Archives full audit trail to Google Cloud Storage.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Presents verified evidence to EU AI Act regulators.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Certifies enterprise as an Accredited Fair Employer.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BUSINESS MODEL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Business Model &amp; Commercialization Strategy: Sustainable SaaS &amp; GovTech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 multi-tiered enterprise revenue model aligned with client success and public sector workforce subsidies.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43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Phase 1: Enterprise Pilot (SaaS)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Target: Mid-Market Enterprises &amp; Regional Hospitals (500 - 5,000 employees).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Pricing: $12 per employee / month + $25,000 onboarding &amp; WorkGraph mapping fee.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Deliverable: Complete WorkGraph mapping, 9-Agent ADK Swarm deployment, TrustBoard.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Value Proposition: Guaranteed 20% OpEx reduction within 90 days or 100% refund.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Phase 2: Global Enterprise Tier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Target: Fortune 500 &amp; Global Tech Titans (10,000+ employees).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Pricing: $8 per employee / month enterprise contract + $150,000 annual platform fee.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Deliverable: Custom ADK domain agents, dedicated Vertex Context Caching, multi-cloud IaC.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Escrow Underwriting: 0.5% platform transaction fee on managed salary escrow covenants.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Phase 3: GovTech &amp; ESG Subsidies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Target: Government Ministries of Labor &amp; Regional Development Agencies (APAC).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Model: Funded via government workforce transition subsidies and World Bank grants.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Public Good: Free tier for government rural schools, community health centers, and SMBs.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Ecosystem Monetization: Anonymized macro labor intelligence sold to sovereign wealth funds.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MARKET ANALYSIS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Market Opportunity &amp; TAM / SAM / SOM across APAC &amp; Global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Capturing the multi-billion dollar enterprise transition from chaotic layoffs to structured AI transformation.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44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228600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Arial"/>
              </a:defRPr>
            </a:pPr>
            <a:r>
              <a:t>$124B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Total Addressable Market (TAM)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98448"/>
            <a:ext cx="228600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  <a:latin typeface="Arial"/>
              </a:defRPr>
            </a:pPr>
            <a:r>
              <a:t>$38B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Serviceable Addressable Market (SAM)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98448"/>
            <a:ext cx="228600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Arial"/>
              </a:defRPr>
            </a:pPr>
            <a:r>
              <a:t>$4.2B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Serviceable Obtainable Market (SOM)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38404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514600"/>
            <a:ext cx="351129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Key Growth Drivers in APAC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Massive Demographics: 60% of the world's working-age population resides in APAC.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Aggressive AI Adoption: Leading AI enterprise investments across Singapore, Japan, India, and Australia.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Regulatory Push: APAC governments mandating ethical AI frameworks (Singapore Model AI Governance, India AI Mission).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377440"/>
            <a:ext cx="38404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2514600"/>
            <a:ext cx="351129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Go-to-Market (GTM) Strategy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Google Cloud Co-Sell: Distribute FuturaSculptAI directly through Google Cloud Marketplace with MACC consumption credits.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Consulting Partnerships: Partner with Big 4 consultancies (PwC, Deloitte, EY) as their core AI transformation delivery tool.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Labor Union Accreditations: Work directly with union leadership to establish FuturaSculptAI as the certified fair-transformation standard.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SOCIETAL IMPACT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Societal Impact &amp; Direct Alignment with UN Sustainable Goals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FuturaSculptAI directly addresses 3 critical United Nations Sustainable Development Goals (SDGs).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45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SDG 8: Decent Work &amp; Growth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Target 8.2: Achieve higher levels of economic productivity through technological upgrading and innovation.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Target 8.5: Achieve full and productive employment and decent work for all women and men with equal pay.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Target 8.8: Protect labor rights and promote safe and secure working environments for all workers.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FuturaSculptAI: Guarantees zero involuntary layoffs while accelerating productivity by up to 100x.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SDG 9: Industry &amp; Innovation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Target 9.4: Upgrade infrastructure and retrofit industries to make them sustainable with increased resource-use efficiency.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Target 9.5: Enhance scientific research and upgrade the technological capabilities of industrial sectors.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Target 9.b: Support domestic technology development, research and innovation in developing countries.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FuturaSculptAI: Democratizes frontier Google ADK agent swarms to regional hospitals and SMBs.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SDG 10: Reduced Inequalities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Target 10.1: Progressively achieve and sustain income growth of the bottom 40% of the population.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Target 10.4: Adopt policies, especially fiscal, wage and social protection policies, and progressively achieve greater equality.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FuturaSculptAI: 90-day salary escrow covenants and peer-to-peer reskilling eliminate technology-driven wage depression.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PROTOTYPE TOUR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Prototype Walkthrough 1: Citizen Worker Sanctuary UI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Real live cockpit screen: Frontline dignity, career health tracking, and Simple Voice Mode.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46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Key Visual Components &amp; Layout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Hero Banner: 'Work Transformation Built for People, Grounded in Dignity &amp; Economic Security'.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Real-Time Metrics: 88.4% Career Stability Score, 0 Layoffs Guaranteed, 90-Day Salary Escrow Verified.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Worker Protection Pillars: Wage Security Covenant, Right-to-Appeal, Transparent Career Pathways, Human-Led Decisions.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Interactive Sector Highlights: Dynamic cards update across Healthcare, Tech, Automotive, Food Mfg, FinTech, and Public Education.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Interactive Functional Demonstrations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One-Click Guided Tour: Launches interactive 5-step onboarding walkthrough with step progress dots.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Simple Voice &amp; Visual Mode: 1-click toggle switches to high-contrast accessible layout with text-to-speech narration.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Aura Voice Assistant: Accessible floating beacon triggers speech dialogue for question and answer support.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Full WCAG 2.1 AA Compliance: High color contrast, semantic ARIA roles, and complete keyboard navigation.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PROTOTYPE TOUR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Prototype Walkthrough 2: Future Work Transformation Simulator UI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Multi-horizon forecasting: 1-Click enterprise presets, real Gemini LLM engine, and strategic milestones.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47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Input Controls &amp; 1-Click Presets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Multi-Mode Input: Toggle between Company Name, Unstructured SOP Notes, and Website URL.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Sector Preset Filters: All Sectors, Healthcare, IT Tech Titans, Automotive, Food Mfg, FinTech, Mobility, Cinema, Education.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Instant Preset Loading: 1-click loads realistic enterprise profiles (Mayo Clinic, Google, Tesla, Nestlé, NPCI, Waymo, Rural School).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Generate Button: Triggers asynchronous background invocation to Vertex AI Gemini 2.5 Pro.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Results Stage &amp; Strategic Horizons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Strategic Horizon Tabs: Baseline (2026), Year 1 (Agent Triage), Year 2, Year 3 (Copilot), Year 5, Year 10 (Cognitive Enterprise).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Productivity Multiplier: Displays progression from 1.0x baseline to 100x civilizational lift.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Firm Growth Metrics: Revenue Multiple, Net Margin, Creative Freedom %, Wage Growth %, Turnaround Speed.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Action Buttons: 'Copy Strategic Narrative' (Clipboard API) and 'Speak Voice Briefing' (Web Speech API).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PROTOTYPE TOUR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Prototype Walkthrough 3: Multimodal Generative Studio UI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Imagen 3 blueprint infographics, Lyria audio podcast player, and Veo 2 synthetic video HUD.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48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1. Imagen 3 Blueprints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Renders dynamic SVG vector blueprint.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Displays task flow from Human to Copilot.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Visualizes milestone progression.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High-contrast cybernetic styling.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2. Lyria Audio Podcasts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Dynamic audio podcast script generation.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Narrated by virtual host 'Dr. Aris Thorne'.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Integrated speech synthesis with speed controls.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Frontline worker interview highlights.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4688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25880"/>
            <a:ext cx="21396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3. Veo 2 Video HUD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Cinematic video simulation feed.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Interactive camera switcher (Drone, HUD, Synergy).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Real-time video timeline scrubber (0-45s).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Telemetry HUD overlay with Edge TPU metrics.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PROTOTYPE TOUR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Prototype Walkthrough 4: Temporal WorkGraph Interactive Canvas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Interactive force-directed graph canvas mapping roles, capabilities, activities, and exposure edges.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49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Graph Exploration Capabilities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Node Filtering: Filter by All Nodes, Roles, Capabilities, SOP Activities, Tools, and Evidence Envelopes.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Exposure Heatmap: Dynamic color rendering highlights high-exposure roles in rose and resilient roles in emerald.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Blast Radius Analysis: Real-time calculation reveals upstream dependencies and downstream operational risks.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Temporal Slicing: Year switcher toggles graph state across Baseline, Year 1, Year 3, and Year 10.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Detailed Node Drawer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Clicking any node opens the detailed side inspection drawer.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Displays precise cycle time, human vs agent split, and assigned supervisor.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Verifies cryptographic EvidenceEnvelope with SHA-256 integrity check.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Full keyboard accessibility: Tab and Enter key node selection.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PROTOTYPE TOUR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Prototype Walkthrough 5: Task Sculptor 6-Part Matrix UI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Dissecting, editing, and sculpting SOP tasks with real-time human-in-the-loop sign-off gates.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50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Taxonomy Matrix &amp; Filtering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Taxonomy Tabs: All Tasks, Automate (100% Agent), Augment (Copilot), Assist, Human-Led, Transmute, Relocate.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Task Cards: Displays task name, current taxonomy, cycle time, target agent, and approval gate level.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One-Click Sculpt Editor: Opens modal dialog to adjust human vs agent share, target agent, and cycle time.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Real-Time Validation: Enforces constraints (human share + agent share = 100%; non-blank approver name).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A2 Sign-Off Gate Modal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Dual-Control Sign-Off: Prompts supervisor for approval decision on consequential task redesigns.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Radio Selection: Choose between Approve Redesign or Reject &amp; Revert to Human-Led.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Audit Tracking: Requires supervisor name and approval notes for permanent evidence ledger logging.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Action Notifications: Dismissible alert banners confirm successful updates or gate decisions.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PROTOTYPE TOUR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Prototype Walkthrough 6: TrustBoard Governance &amp; Investor Lens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8-Pillar Well-Architected scorecard, SAIF control remediation, and interactive EBITDA modeling.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51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TrustBoard &amp; SAIF Scorecard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Overall Trust Score: 94.3% with APPROVED gate status and 0 Red Line breaches.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8-Pillar Grid: Tenant Isolation, Deterministic Math, Cryptographic Lineage, Human Oversight, FinOps, Model Armor, Privacy, Observability.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SAIF Matrix: Complete inventory of Google Secure AI Framework controls with in-line remediation workflows.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Remediation Modal: Update control status, mitigation notes, and assigned owner with instant recalculation.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Investor Lens &amp; Diligence Pack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Interactive Financial Sliders: Adjust Wage Uplift Multiplier (0.8x - 1.5x) and Automation Yield Factor (0.5x - 1.5x).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Dynamic Valuation: Instantly updates projected EBITDA unlock ($1.25M), 3-year Net NPV ($2.97M), and Net ROI (6.25x).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1-Click Diligence Export: Generates cryptographically certified Diligence Certificate (DIL-TEST-12345).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Board-Ready Presentation: Unpacks formal executive disclaimers and transformation theses.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PROTOTYPE TOUR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Prototype Walkthrough 7: Aura AI Hologram Assistant UI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Floating conversational beacon, dynamic audio waveform visualizer, and Web Speech dialogue.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52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Visualizer &amp; Conversational Interface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Floating Trigger: Sleek glowing cyan beacon in bottom-right corner with pulse animation.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Modal Dialog: Opens cyberpunk glassmorphism assistant interface with animated canvas audio waves.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Speech Recognition: Microphone button activates real-time speech-to-text with browser permissions handling.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Audio Waveform: Canvas 2D engine renders dynamic sine wave animations during assistant speech playback.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Conversational Intelligence &amp; Guardrails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Quick Prompt Pills: 'Explain wage escrow', 'How to appeal a task redesign', 'Healthcare SOP guidance'.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Intelligent Persona Responses: Tailored answers explaining salary escrow, reskilling, and safety gates.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Speech Synthesis (TTS): Web Speech API reads responses aloud with rate and pitch controls.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Accessible Fallbacks: Gracefully handles environments without microphone or speech synthesis support.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PROTOTYPE TOUR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Prototype Walkthrough 8: Enterprise Onboarding &amp; Presets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Seamless organization setup, sector switching, and real Google Login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53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Enterprise Onboarding Flow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Modal Dialog: 'Register Enterprise for Responsible Transformation'.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Form Inputs: Organization Name, Industry Sector dropdown, Number of Employees, Target Horizon Years.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Validation: Enforces positive employee counts, valid organization names, and selected sectors.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Persistence: Creates new tenant record and initializes default WorkGraph model on Cloud Run backend.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Topbar Controls &amp; Google Login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Standardized Topbar: Uniform 36px height, rounded pill geometry, and sleek glassmorphism styling.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Sector Switcher: Dropdown immediately updates cockpit domain across Healthcare, IT, Automotive, Food, FinTech, Education.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Google Login Connector: Accessible modal prompting real Gmail accounts with one-tap OAuth sign-in.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Language Selector: 1-click switching between English, Hindi, Tamil, and Japanese with full i18n support.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PROTOTYPE TOUR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Prototype Walkthrough 9: Cryptographic Evidence Ledger UI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Immutable SHA-256 EvidenceEnvelopes, grounded citation verification, and anti-hallucination defense.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54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Evidence Ledger &amp; Envelope Viewer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Ledger List: Displays verified evidence items with entity badges, source type, and timestamp.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SHA-256 Verification: Real-time integrity check verifies that the envelope hash matches the payload perfectly.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Claim Entailment Audit: Audits whether the AI recommendation is mathematically supported or contradicted by the evidence.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File Uploader: Upload new SOP evidence files with automated SHA-256 generation and DLP sanitization.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Anti-Hallucination Guarantees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Blind Output: Every agent recommendation must link directly to at least one verified evidence envelope.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Grounded Quotes: Unpacks verbatim source quotations from SEC filings, WHO reports, and internal SOP manuals.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Author Attestation: Each evidence item records the specific agent author (e.g. Future Signals Scout Agent).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Exportable Evidence Log: 1-click export of the complete evidence ledger for regulatory audits.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BENCHMARKS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System Performance, Latency &amp; FinOps Optimization Benchmarks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Empirical performance telemetry: sub-second API responses, 88% cache savings, and edge TPU inference.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55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82880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Arial"/>
              </a:defRPr>
            </a:pPr>
            <a:r>
              <a:t>182ms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Cloud Run API Latency (p95)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188720"/>
            <a:ext cx="182880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298448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Arial"/>
              </a:defRPr>
            </a:pPr>
            <a:r>
              <a:t>88.4%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Vertex Context Cache Hit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182880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298448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  <a:latin typeface="Arial"/>
              </a:defRPr>
            </a:pPr>
            <a:r>
              <a:t>8.2ms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Edge TPU Defect Inference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188720"/>
            <a:ext cx="20116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298448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Arial"/>
              </a:defRPr>
            </a:pPr>
            <a:r>
              <a:t>0.0%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Uncaught Production Errors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77440"/>
            <a:ext cx="38404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514600"/>
            <a:ext cx="351129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FinOps Token Cost Optimization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Vertex AI Context Caching: Caching the core enterprise WorkGraph schema slashes input token costs by 88%.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Dynamic Model Routing: Gemini 2.5 Flash handles 85% of high-volume triage requests; Gemini 2.5 Pro reserved for deep reasoning.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Monthly Compute Efficiency: Entire multi-agent platform operates under $120/month base Cloud Run / Vertex budget.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377440"/>
            <a:ext cx="38404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2514600"/>
            <a:ext cx="351129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Throughput &amp; Scalability Under Load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Concurrency Testing: Sustains 2,000+ concurrent requests on Cloud Run with zero dropped connections.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BigQuery Vector Search: Sub-120ms semantic search over 100,000+ SOP paragraphs using ScaNN index.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Edge Deployment: Lightweight WorkGraph models run offline on Google Coral Edge TPUs for rural factories.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QUALITY ENGINEERING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Quality Engineering: 100.0% Pytest &amp; Vitest Coverage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Rigorous verification across the entire polyglot codebase: zero mock debt in core business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56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82880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Arial"/>
              </a:defRPr>
            </a:pPr>
            <a:r>
              <a:t>100.0%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Backend Pytest Stmt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188720"/>
            <a:ext cx="182880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298448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Arial"/>
              </a:defRPr>
            </a:pPr>
            <a:r>
              <a:t>100.0%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Backend Branch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88720"/>
            <a:ext cx="182880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298448"/>
            <a:ext cx="16459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Arial"/>
              </a:defRPr>
            </a:pPr>
            <a:r>
              <a:t>100.0%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Frontend Vitest Stmt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188720"/>
            <a:ext cx="2011680" cy="1005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298448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Arial"/>
              </a:defRPr>
            </a:pPr>
            <a:r>
              <a:t>204+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Total Verified Test Suites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77440"/>
            <a:ext cx="38404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514600"/>
            <a:ext cx="351129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Backend Pytest Architecture (apps/api)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111 Passed Tests across unit, integration, and security suites.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2,297 Statements &amp; 434 Branches verified with ZERO misses (100.0% total coverage).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Tested Components: vertex_adapter, scenario_service, governance_service, workgraph_service, router endpoints.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377440"/>
            <a:ext cx="3840480" cy="2194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2514600"/>
            <a:ext cx="351129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Frontend Vitest Architecture (apps/web)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27 Test Files &amp; 204+ Tests across unit, integration, and end-to-end user journeys.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100.0% Statements, Branches, Functions, and Lines across all 27 component and service files.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Tested Components: GoogleLoginModal, TransformationRoadmapStudio, AuraHologramAssistant, TaskSculptor, TrustBoard.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STRATEGIC ROADMAP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2026-2028 Strategic Roadmap: Phase 1 &amp; 2 Execution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From hackathon prototype to production enterprise deployments across APAC healthcare, manufacturing, and tech.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57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Phase 1: Foundation &amp; Pilots (Q2-Q4 2026)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Production MVP Launch: General availability on Google Cloud Marketplace (asia-southeast1).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Enterprise Pilot Cohort: Onboarding 5 flagship enterprise partners across Apollo Hospitals, Mahindra Automotive, and regional tech firms.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Security Certifications: Finalizing SOC 2 Type II, ISO/IEC 42001 (AI Management), and HIPAA compliance audits.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Developer SDK: Release open-source Python and TypeScript SDKs for custom enterprise SOP ingestion connectors.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Phase 2: Scale &amp; Multi-Region (2027-2028)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Multi-Region Cloud Run: Expanding active-active deployment across Singapore, Tokyo, Sydney, and Mumbai.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Real-Time SAP &amp; Workday Connectors: Pre-built bilateral connectors syncing WorkGraph state with enterprise ERPs.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Autonomous Agent Mesh: Upgrading ADK Swarm to support 25+ specialized agents with autonomous inter-agent negotiation.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Salary Escrow Underwriting: Partnering with leading insurers to offer formal parametric escrow guarantee policies.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STRATEGIC ROADMAP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2029-2036 Long-Term Vision: The Cognitive Enterprise Era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Pioneering the global standard for civilizational human-agent symbiosis and economic dignity.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58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Phase 3: Civilizational Scaling (2029-2031)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GovTech Sovereign Deployment: Powering national workforce reskilling platforms for APAC Ministries of Labor.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Edge-TPU Swarm Mesh: Deploying decentralized task conductor nodes across 50,000+ rural factories and community schools.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Universal Worker Equity: Platform-facilitated profit sharing allocating equity to workers whose tasks are automated.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Zero Involuntary Displacement: Standardizing the 90-Day Salary Escrow Covenant into regional labor legislation.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Phase 4: The 100x Cognitive Era (2032-2036)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100x Civilizational Multiplier: Routine administrative and repetitive physical toil eliminated across all participant firms.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Humans as Chief Directors: Frontline workers spend 95% of their working hours on creative direction, empathy, and strategic invention.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Durable Industry Benchmarks: FuturaSculptAI accredited enterprises achieve top-decile valuation multiples and employee retention.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Generational Livelihood Security: Creating an unbreakable economic safety net for the future of work.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PROTOTYPE ASSETS</a:t>
            </a:r>
          </a:p>
          <a:p>
            <a:pPr>
              <a:spcAft>
                <a:spcPts val="2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Prototype Assets, Live Deployment &amp; Verification Links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Live production URLs, GitHub repository, and video demonstration links ready for immediate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FuturaSculptAI • Google Cloud APAC AI Builder Cup 2026 • Team Cybernauts • Slide 59 of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Live Cloud Deployments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🌐 Live Web Application (Firebase Hosting):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https://futurasculptai.web.app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🚀 Live Cloud Run Backend API (Google Cloud Run):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https://futurasculpt-api-967518492968.asia-southeast1.run.app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🏥 Health Check Verification Endpoint: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https://futurasculpt-api-967518492968.asia-southeast1.run.app/healthz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📖 Interactive Swagger API Documentation: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https://futurasculpt-api-967518492968.asia-southeast1.run.app/docs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840480" cy="33832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25880"/>
            <a:ext cx="351129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Code Repository &amp; Demo Video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💻 GitHub Public Source Code Repository: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https://github.com/sivasubramanian86/FuturaSculptAI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🎥 Hackathon Video Demonstration (YouTube):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https://youtu.be/futurasculpt-apac-demo-2026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🧪 Test Verification Badges: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• Pytest Coverage: 100.0% (111 tests passed, 2,297 statements)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• Vitest Coverage: 100.0% (27 test files, 204+ tests passed)</a:t>
            </a:r>
          </a:p>
          <a:p>
            <a:pPr>
              <a:spcAft>
                <a:spcPts val="300"/>
              </a:spcAft>
              <a:defRPr sz="900">
                <a:solidFill>
                  <a:srgbClr val="CBD5E1"/>
                </a:solidFill>
                <a:latin typeface="Arial"/>
              </a:defRPr>
            </a:pPr>
            <a:r>
              <a:t>• • Google SAIF Audit: 100.0% Compliant (0 Red Line Breaches)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TEAM CYBERNAUTS • GOOGLE CLOUD APAC AI BUILDER CUP 2026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>
              <a:spcAft>
                <a:spcPts val="1600"/>
              </a:spcAft>
              <a:defRPr sz="1400" b="1">
                <a:solidFill>
                  <a:srgbClr val="6366F1"/>
                </a:solidFill>
                <a:latin typeface="Arial"/>
              </a:defRPr>
            </a:pPr>
            <a:r>
              <a:t>FuturaSculptAI proves that artificial intelligence does not have to come at the expense of human dignity.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Team Leader: SIVASUBRAMANIAN (Senior Solutions Architect &amp; AI/ML Engineer)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Built with Google Cloud: Vertex AI, Agent Development Kit (ADK), Cloud Run, BigQuery &amp; Firebase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  <a:latin typeface="Arial"/>
              </a:defRPr>
            </a:pPr>
            <a:r>
              <a:t>• Repository: https://github.com/sivasubramanian86/FuturaSculptAI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• Together, let's sculpt a future where technology elevates humanity to 100x productivity with zero displacement.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